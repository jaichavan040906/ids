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6"/>
  </p:notesMasterIdLst>
  <p:sldIdLst>
    <p:sldId id="256" r:id="rId5"/>
  </p:sld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9F9EC6E-B20D-20CF-032A-EFEB190C95B3}" v="2" dt="2026-10-19T06:29:14.3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Relationship Id="rId11" Type="http://schemas.microsoft.com/office/2016/11/relationships/changesInfo" Target="changesInfos/changesInfo1.xml"/><Relationship Id="rId1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ashraj Kharat" userId="S::yashraj.kharat@vit.edu.in::95e2f4e6-eaa3-43ee-bd64-e2d73212bb79" providerId="AD" clId="Web-{B9F9EC6E-B20D-20CF-032A-EFEB190C95B3}"/>
    <pc:docChg chg="modSld">
      <pc:chgData name="Yashraj Kharat" userId="S::yashraj.kharat@vit.edu.in::95e2f4e6-eaa3-43ee-bd64-e2d73212bb79" providerId="AD" clId="Web-{B9F9EC6E-B20D-20CF-032A-EFEB190C95B3}" dt="2026-10-19T06:29:14.398" v="1" actId="1076"/>
      <pc:docMkLst>
        <pc:docMk/>
      </pc:docMkLst>
      <pc:sldChg chg="modSp">
        <pc:chgData name="Yashraj Kharat" userId="S::yashraj.kharat@vit.edu.in::95e2f4e6-eaa3-43ee-bd64-e2d73212bb79" providerId="AD" clId="Web-{B9F9EC6E-B20D-20CF-032A-EFEB190C95B3}" dt="2026-10-19T06:29:14.398" v="1" actId="1076"/>
        <pc:sldMkLst>
          <pc:docMk/>
          <pc:sldMk cId="0" sldId="256"/>
        </pc:sldMkLst>
        <pc:spChg chg="mod">
          <ac:chgData name="Yashraj Kharat" userId="S::yashraj.kharat@vit.edu.in::95e2f4e6-eaa3-43ee-bd64-e2d73212bb79" providerId="AD" clId="Web-{B9F9EC6E-B20D-20CF-032A-EFEB190C95B3}" dt="2026-10-19T06:29:14.398" v="1" actId="1076"/>
          <ac:spMkLst>
            <pc:docMk/>
            <pc:sldMk cId="0" sldId="256"/>
            <ac:spMk id="20" creationId="{00000000-0000-0000-0000-000000000000}"/>
          </ac:spMkLst>
        </pc:spChg>
      </pc:sldChg>
    </pc:docChg>
  </pc:docChgLst>
  <pc:docChgLst>
    <pc:chgData name="Satyam Revgade" userId="S::satyam.revgade@vit.edu.in::3a780d96-4f5c-4daf-86c6-83e5abe95375" providerId="AD" clId="Web-{521BC1DA-D448-0732-3FDA-C1E932590324}"/>
    <pc:docChg chg="modSld">
      <pc:chgData name="Satyam Revgade" userId="S::satyam.revgade@vit.edu.in::3a780d96-4f5c-4daf-86c6-83e5abe95375" providerId="AD" clId="Web-{521BC1DA-D448-0732-3FDA-C1E932590324}" dt="2026-10-06T01:10:58.149" v="1" actId="1076"/>
      <pc:docMkLst>
        <pc:docMk/>
      </pc:docMkLst>
      <pc:sldChg chg="modSp">
        <pc:chgData name="Satyam Revgade" userId="S::satyam.revgade@vit.edu.in::3a780d96-4f5c-4daf-86c6-83e5abe95375" providerId="AD" clId="Web-{521BC1DA-D448-0732-3FDA-C1E932590324}" dt="2026-10-06T01:10:58.149" v="1" actId="1076"/>
        <pc:sldMkLst>
          <pc:docMk/>
          <pc:sldMk cId="0" sldId="256"/>
        </pc:sldMkLst>
        <pc:spChg chg="mod">
          <ac:chgData name="Satyam Revgade" userId="S::satyam.revgade@vit.edu.in::3a780d96-4f5c-4daf-86c6-83e5abe95375" providerId="AD" clId="Web-{521BC1DA-D448-0732-3FDA-C1E932590324}" dt="2026-10-06T01:10:58.149" v="1" actId="1076"/>
          <ac:spMkLst>
            <pc:docMk/>
            <pc:sldMk cId="0" sldId="256"/>
            <ac:spMk id="63" creationId="{00000000-0000-0000-0000-000000000000}"/>
          </ac:spMkLst>
        </pc:sp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_100_0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500" b="0" i="0" u="none" strike="noStrike">
                <a:solidFill>
                  <a:srgbClr val="1E2761"/>
                </a:solidFill>
                <a:latin typeface="Arial"/>
              </a:defRPr>
            </a:pPr>
            <a:r>
              <a:rPr lang="en-IN" sz="1500" b="0" i="0" u="none" strike="noStrike">
                <a:solidFill>
                  <a:srgbClr val="1E2761"/>
                </a:solidFill>
                <a:latin typeface="Arial"/>
              </a:rPr>
              <a:t>Binary F1 (%), attack vs benign: mean of 3 seeds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Binary F1 (%)</c:v>
                </c:pt>
              </c:strCache>
            </c:strRef>
          </c:tx>
          <c:spPr>
            <a:solidFill>
              <a:srgbClr val="D9790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300" b="0" i="0" u="none" strike="noStrike">
                    <a:solidFill>
                      <a:srgbClr val="1E2761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Paper [1]</c:v>
                </c:pt>
                <c:pt idx="1">
                  <c:v>Random Forest</c:v>
                </c:pt>
                <c:pt idx="2">
                  <c:v>LightGBM</c:v>
                </c:pt>
                <c:pt idx="3">
                  <c:v>CNN-LSTM (ours)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94.3</c:v>
                </c:pt>
                <c:pt idx="1">
                  <c:v>99.91</c:v>
                </c:pt>
                <c:pt idx="2">
                  <c:v>99.88</c:v>
                </c:pt>
                <c:pt idx="3">
                  <c:v>99.73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41D-417F-97F2-0638F5F0A4E7}"/>
            </c:ext>
          </c:extLst>
        </c:ser>
        <c:dLbls>
          <c:numFmt formatCode="0.00" sourceLinked="0"/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2.0"/>
          <c:min val="90.0"/>
        </c:scaling>
        <c:delete val="0"/>
        <c:axPos val="l"/>
        <c:majorGridlines>
          <c:spPr>
            <a:ln w="12700" cap="flat">
              <a:solidFill>
                <a:srgbClr val="DDE3EE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472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  <c:majorUnit val="2.0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268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chart" Target="../charts/chart1.xml"/><Relationship Id="rId4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918400" cy="609904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548640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</a:t>
            </a:r>
            <a:endParaRPr lang="en-US" sz="1000"/>
          </a:p>
        </p:txBody>
      </p:sp>
      <p:sp>
        <p:nvSpPr>
          <p:cNvPr id="5" name="Shape 3"/>
          <p:cNvSpPr/>
          <p:nvPr/>
        </p:nvSpPr>
        <p:spPr>
          <a:xfrm>
            <a:off x="30632400" y="548640"/>
            <a:ext cx="1371600" cy="13716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30632400" y="54864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</a:t>
            </a:r>
            <a:endParaRPr lang="en-US" sz="1000"/>
          </a:p>
          <a:p>
            <a:pPr marL="0" indent="0" algn="ctr">
              <a:buNone/>
            </a:pPr>
            <a:r>
              <a:rPr lang="en-US" sz="10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ENGG</a:t>
            </a:r>
            <a:endParaRPr lang="en-US" sz="1000"/>
          </a:p>
        </p:txBody>
      </p:sp>
      <p:sp>
        <p:nvSpPr>
          <p:cNvPr id="7" name="Text 5"/>
          <p:cNvSpPr txBox="1"/>
          <p:nvPr/>
        </p:nvSpPr>
        <p:spPr>
          <a:xfrm>
            <a:off x="2743200" y="594360"/>
            <a:ext cx="2743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200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 PROJECT — POSTER</a:t>
            </a:r>
            <a:endParaRPr lang="en-US" sz="1500"/>
          </a:p>
        </p:txBody>
      </p:sp>
      <p:sp>
        <p:nvSpPr>
          <p:cNvPr id="8" name="Text 6"/>
          <p:cNvSpPr txBox="1"/>
          <p:nvPr/>
        </p:nvSpPr>
        <p:spPr>
          <a:xfrm>
            <a:off x="1371600" y="1143000"/>
            <a:ext cx="3017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Human-in-the-Loop Intrusion Detection with Uncertainty-Aware Routing</a:t>
            </a:r>
            <a:endParaRPr lang="en-US" sz="5800"/>
          </a:p>
        </p:txBody>
      </p:sp>
      <p:sp>
        <p:nvSpPr>
          <p:cNvPr id="9" name="Text 7"/>
          <p:cNvSpPr txBox="1"/>
          <p:nvPr/>
        </p:nvSpPr>
        <p:spPr>
          <a:xfrm>
            <a:off x="1371600" y="3246120"/>
            <a:ext cx="3017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 Chavan, Jeet Mane  |  Guide: Prof. Divya Nimbalkar</a:t>
            </a:r>
            <a:endParaRPr lang="en-US" sz="2400"/>
          </a:p>
        </p:txBody>
      </p:sp>
      <p:sp>
        <p:nvSpPr>
          <p:cNvPr id="10" name="Text 8"/>
          <p:cNvSpPr txBox="1"/>
          <p:nvPr/>
        </p:nvSpPr>
        <p:spPr>
          <a:xfrm>
            <a:off x="1371600" y="3886200"/>
            <a:ext cx="3017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Engineering, Vidyalankar Institute of Technology, Mumbai (Autonomous, affiliated to the University of Mumbai)</a:t>
            </a:r>
            <a:endParaRPr lang="en-US" sz="1800"/>
          </a:p>
        </p:txBody>
      </p:sp>
      <p:sp>
        <p:nvSpPr>
          <p:cNvPr id="11" name="Text 9"/>
          <p:cNvSpPr txBox="1"/>
          <p:nvPr/>
        </p:nvSpPr>
        <p:spPr>
          <a:xfrm>
            <a:off x="1371600" y="4434840"/>
            <a:ext cx="3017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Corresponding author: jai.chavan@vit.edu.in</a:t>
            </a:r>
            <a:endParaRPr lang="en-US" sz="1500"/>
          </a:p>
        </p:txBody>
      </p:sp>
      <p:sp>
        <p:nvSpPr>
          <p:cNvPr id="12" name="Shape 10"/>
          <p:cNvSpPr/>
          <p:nvPr/>
        </p:nvSpPr>
        <p:spPr>
          <a:xfrm>
            <a:off x="685800" y="6675120"/>
            <a:ext cx="594360" cy="594360"/>
          </a:xfrm>
          <a:prstGeom prst="ellipse">
            <a:avLst/>
          </a:prstGeom>
          <a:solidFill>
            <a:srgbClr val="D97904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36192" y="660196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000"/>
          </a:p>
        </p:txBody>
      </p:sp>
      <p:sp>
        <p:nvSpPr>
          <p:cNvPr id="14" name="Shape 12"/>
          <p:cNvSpPr/>
          <p:nvPr/>
        </p:nvSpPr>
        <p:spPr>
          <a:xfrm>
            <a:off x="685800" y="7635240"/>
            <a:ext cx="10210800" cy="4572000"/>
          </a:xfrm>
          <a:prstGeom prst="roundRect">
            <a:avLst>
              <a:gd name="adj" fmla="val 1600"/>
            </a:avLst>
          </a:prstGeom>
          <a:solidFill>
            <a:srgbClr val="F2F5FC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1005840" y="7909560"/>
            <a:ext cx="957072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detectors score above 99% on benchmark splits, yet a deployed model will meet attacks it was never trained on, and its own confidence gives no warning when it is wrong. We built Sentinel, a working human-in-the-loop IDS. A CNN-LSTM labels each network flow; an uncertainty router combining temperature-scaled entropy, Mahalanobis distance on the 128-d embedding and a Random Forest second opinion decides whether the verdict can be acted on or must go to a security analyst. Analyst decisions are stored in a searchable Knowledge Repository and change the model only through administrator-approved retraining with acceptance rules fixed in advance. On 257,222 untouched CIC-IDS2017 test flows, only 1.48% of traffic is referred, that queue holds 98.9% of the model's errors, and traffic handled automatically is 99.999% correct. With one attack family withheld from training, the router keeps silent misses at or below 10.2% for five of six families.</a:t>
            </a:r>
            <a:endParaRPr lang="en-US" sz="2000"/>
          </a:p>
        </p:txBody>
      </p:sp>
      <p:sp>
        <p:nvSpPr>
          <p:cNvPr id="16" name="Text 14"/>
          <p:cNvSpPr txBox="1"/>
          <p:nvPr/>
        </p:nvSpPr>
        <p:spPr>
          <a:xfrm>
            <a:off x="685800" y="12618720"/>
            <a:ext cx="1021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Keywords:  </a:t>
            </a:r>
            <a:r>
              <a:rPr lang="en-US" sz="18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intrusion detection, human-in-the-loop, uncertainty estimation, CNN-LSTM, out-of-distribution detection, CIC-IDS2017</a:t>
            </a:r>
            <a:endParaRPr lang="en-US" sz="1800"/>
          </a:p>
        </p:txBody>
      </p:sp>
      <p:sp>
        <p:nvSpPr>
          <p:cNvPr id="17" name="Shape 15"/>
          <p:cNvSpPr/>
          <p:nvPr/>
        </p:nvSpPr>
        <p:spPr>
          <a:xfrm>
            <a:off x="685800" y="1362456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85800" y="136245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100"/>
          </a:p>
        </p:txBody>
      </p:sp>
      <p:sp>
        <p:nvSpPr>
          <p:cNvPr id="19" name="Text 17"/>
          <p:cNvSpPr txBox="1"/>
          <p:nvPr/>
        </p:nvSpPr>
        <p:spPr>
          <a:xfrm>
            <a:off x="1536192" y="1355140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000"/>
          </a:p>
        </p:txBody>
      </p:sp>
      <p:sp>
        <p:nvSpPr>
          <p:cNvPr id="20" name="Text 18"/>
          <p:cNvSpPr txBox="1"/>
          <p:nvPr/>
        </p:nvSpPr>
        <p:spPr>
          <a:xfrm>
            <a:off x="685800" y="14584680"/>
            <a:ext cx="10210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Learning-based IDSs reach 99%+ on random splits of benchmark data, so accuracy alone no longer separates a usable detector from an unusable one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networks drift and new attack families appear; a softmax score is often confidently wrong on them, so mistakes are silent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Objective: decide which flows the model may handle alone and which a security analyst must check first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Contribution: a complete HITL IDS: CNN-LSTM, uncertainty router, analyst console, Knowledge Repository and gated, reversible retraining</a:t>
            </a:r>
            <a:endParaRPr lang="en-US" sz="2000"/>
          </a:p>
        </p:txBody>
      </p:sp>
      <p:sp>
        <p:nvSpPr>
          <p:cNvPr id="21" name="Shape 19"/>
          <p:cNvSpPr/>
          <p:nvPr/>
        </p:nvSpPr>
        <p:spPr>
          <a:xfrm>
            <a:off x="685800" y="185166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185166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100"/>
          </a:p>
        </p:txBody>
      </p:sp>
      <p:sp>
        <p:nvSpPr>
          <p:cNvPr id="23" name="Text 21"/>
          <p:cNvSpPr txBox="1"/>
          <p:nvPr/>
        </p:nvSpPr>
        <p:spPr>
          <a:xfrm>
            <a:off x="1536192" y="1844344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Literature Review / Related Work</a:t>
            </a:r>
            <a:endParaRPr lang="en-US" sz="3000"/>
          </a:p>
        </p:txBody>
      </p:sp>
      <p:sp>
        <p:nvSpPr>
          <p:cNvPr id="24" name="Text 22"/>
          <p:cNvSpPr txBox="1"/>
          <p:nvPr/>
        </p:nvSpPr>
        <p:spPr>
          <a:xfrm>
            <a:off x="685800" y="19476720"/>
            <a:ext cx="1021080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Engelen et al., 2021; Liu et al., 2022 [2]-[3]: label and duplicate errors in CIC-IDS2017; we use the corrected release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Arp et al., 2022 [4]: identifier columns and leakage inflate ML security results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Sommer &amp; Paxson, 2010 [5]: real networks are open-world, so unseen activity is the norm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no system combines uncertainty routing, an analyst knowledge store and controlled retraining</a:t>
            </a:r>
            <a:endParaRPr lang="en-US" sz="2000"/>
          </a:p>
        </p:txBody>
      </p:sp>
      <p:sp>
        <p:nvSpPr>
          <p:cNvPr id="25" name="Shape 23"/>
          <p:cNvSpPr/>
          <p:nvPr/>
        </p:nvSpPr>
        <p:spPr>
          <a:xfrm>
            <a:off x="685800" y="25420320"/>
            <a:ext cx="10210800" cy="4114800"/>
          </a:xfrm>
          <a:prstGeom prst="roundRect">
            <a:avLst>
              <a:gd name="adj" fmla="val 3077"/>
            </a:avLst>
          </a:prstGeom>
          <a:solidFill>
            <a:srgbClr val="F2F5FC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960120" y="25694640"/>
            <a:ext cx="483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D979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98.9%</a:t>
            </a:r>
            <a:endParaRPr lang="en-US" sz="4600"/>
          </a:p>
        </p:txBody>
      </p:sp>
      <p:sp>
        <p:nvSpPr>
          <p:cNvPr id="27" name="Text 25"/>
          <p:cNvSpPr txBox="1"/>
          <p:nvPr/>
        </p:nvSpPr>
        <p:spPr>
          <a:xfrm>
            <a:off x="960120" y="26700480"/>
            <a:ext cx="483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model errors land in the analyst's queue</a:t>
            </a:r>
            <a:endParaRPr lang="en-US" sz="1600"/>
          </a:p>
        </p:txBody>
      </p:sp>
      <p:sp>
        <p:nvSpPr>
          <p:cNvPr id="28" name="Text 26"/>
          <p:cNvSpPr txBox="1"/>
          <p:nvPr/>
        </p:nvSpPr>
        <p:spPr>
          <a:xfrm>
            <a:off x="5791200" y="25694640"/>
            <a:ext cx="483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D979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1.48%</a:t>
            </a:r>
            <a:endParaRPr lang="en-US" sz="4600"/>
          </a:p>
        </p:txBody>
      </p:sp>
      <p:sp>
        <p:nvSpPr>
          <p:cNvPr id="29" name="Text 27"/>
          <p:cNvSpPr txBox="1"/>
          <p:nvPr/>
        </p:nvSpPr>
        <p:spPr>
          <a:xfrm>
            <a:off x="5791200" y="26700480"/>
            <a:ext cx="483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traffic needs a human</a:t>
            </a:r>
            <a:endParaRPr lang="en-US" sz="1600"/>
          </a:p>
        </p:txBody>
      </p:sp>
      <p:sp>
        <p:nvSpPr>
          <p:cNvPr id="30" name="Text 28"/>
          <p:cNvSpPr txBox="1"/>
          <p:nvPr/>
        </p:nvSpPr>
        <p:spPr>
          <a:xfrm>
            <a:off x="685800" y="2967228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results on 257,222 held-out test flows (CIC-IDS2017)</a:t>
            </a:r>
            <a:endParaRPr lang="en-US" sz="1600"/>
          </a:p>
        </p:txBody>
      </p:sp>
      <p:sp>
        <p:nvSpPr>
          <p:cNvPr id="31" name="Shape 29"/>
          <p:cNvSpPr/>
          <p:nvPr/>
        </p:nvSpPr>
        <p:spPr>
          <a:xfrm>
            <a:off x="685800" y="30358080"/>
            <a:ext cx="594360" cy="594360"/>
          </a:xfrm>
          <a:prstGeom prst="ellipse">
            <a:avLst/>
          </a:prstGeom>
          <a:solidFill>
            <a:srgbClr val="D97904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1536192" y="3028492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Applications / Use Cases</a:t>
            </a:r>
            <a:endParaRPr lang="en-US" sz="3000"/>
          </a:p>
        </p:txBody>
      </p:sp>
      <p:sp>
        <p:nvSpPr>
          <p:cNvPr id="33" name="Text 31"/>
          <p:cNvSpPr txBox="1"/>
          <p:nvPr/>
        </p:nvSpPr>
        <p:spPr>
          <a:xfrm>
            <a:off x="685800" y="31318200"/>
            <a:ext cx="102108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Operations Centres: analysts review only the ~1.5% of doubtful flows instead of every alert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Campus and enterprise networks: routine traffic handled automatically, novel attacks checked by a person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training and audit: a searchable record of past incidents, reasons and evidence</a:t>
            </a:r>
            <a:endParaRPr lang="en-US" sz="2000"/>
          </a:p>
          <a:p>
            <a:pPr marL="254000" indent="-254000">
              <a:lnSpc>
                <a:spcPct val="115000"/>
              </a:lnSpc>
              <a:spcAft>
                <a:spcPts val="1400"/>
              </a:spcAft>
              <a:buSzPct val="100000"/>
              <a:buChar char="•"/>
            </a:pPr>
            <a:r>
              <a:rPr lang="en-US" sz="20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high-stakes ML deployment where a confident wrong decision is costly</a:t>
            </a:r>
            <a:endParaRPr lang="en-US" sz="2000"/>
          </a:p>
        </p:txBody>
      </p:sp>
      <p:sp>
        <p:nvSpPr>
          <p:cNvPr id="34" name="Shape 32"/>
          <p:cNvSpPr/>
          <p:nvPr/>
        </p:nvSpPr>
        <p:spPr>
          <a:xfrm>
            <a:off x="11353800" y="6675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11353800" y="6675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100"/>
          </a:p>
        </p:txBody>
      </p:sp>
      <p:sp>
        <p:nvSpPr>
          <p:cNvPr id="36" name="Text 34"/>
          <p:cNvSpPr txBox="1"/>
          <p:nvPr/>
        </p:nvSpPr>
        <p:spPr>
          <a:xfrm>
            <a:off x="12204192" y="660196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Methodology / Architecture</a:t>
            </a:r>
            <a:endParaRPr lang="en-US" sz="3000"/>
          </a:p>
        </p:txBody>
      </p:sp>
      <p:sp>
        <p:nvSpPr>
          <p:cNvPr id="37" name="Text 35"/>
          <p:cNvSpPr txBox="1"/>
          <p:nvPr/>
        </p:nvSpPr>
        <p:spPr>
          <a:xfrm>
            <a:off x="11353800" y="7635240"/>
            <a:ext cx="1021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flow is classified by a CNN-LSTM; an uncertainty router either acts on the verdict or refers the flow to an analyst, whose verified decisions retrain the model only under fixed rules.</a:t>
            </a:r>
            <a:endParaRPr lang="en-US" sz="1900"/>
          </a:p>
        </p:txBody>
      </p:sp>
      <p:sp>
        <p:nvSpPr>
          <p:cNvPr id="38" name="Text 36"/>
          <p:cNvSpPr txBox="1"/>
          <p:nvPr/>
        </p:nvSpPr>
        <p:spPr>
          <a:xfrm>
            <a:off x="11353800" y="8686800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Design</a:t>
            </a:r>
            <a:endParaRPr lang="en-US" sz="2200"/>
          </a:p>
        </p:txBody>
      </p:sp>
      <p:sp>
        <p:nvSpPr>
          <p:cNvPr id="39" name="Text 37"/>
          <p:cNvSpPr txBox="1"/>
          <p:nvPr/>
        </p:nvSpPr>
        <p:spPr>
          <a:xfrm>
            <a:off x="11353800" y="9235440"/>
            <a:ext cx="1021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Experimental and computational: deep and tree models compared under strict leakage control with 3 seeds, then tested on unseen attacks and unseen days.</a:t>
            </a:r>
            <a:endParaRPr lang="en-US" sz="1900"/>
          </a:p>
        </p:txBody>
      </p:sp>
      <p:sp>
        <p:nvSpPr>
          <p:cNvPr id="40" name="Text 38"/>
          <p:cNvSpPr txBox="1"/>
          <p:nvPr/>
        </p:nvSpPr>
        <p:spPr>
          <a:xfrm>
            <a:off x="11353800" y="10424160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Participants</a:t>
            </a:r>
            <a:endParaRPr lang="en-US" sz="2200"/>
          </a:p>
        </p:txBody>
      </p:sp>
      <p:sp>
        <p:nvSpPr>
          <p:cNvPr id="41" name="Text 39"/>
          <p:cNvSpPr txBox="1"/>
          <p:nvPr/>
        </p:nvSpPr>
        <p:spPr>
          <a:xfrm>
            <a:off x="11353800" y="10972800"/>
            <a:ext cx="1021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CIC-IDS2017, 5 days of lab traffic: 2,099,976 flows, 1,714,812 after removing duplicates; 13 classes; stratified 70/15/15 split, test set used once.</a:t>
            </a:r>
            <a:endParaRPr lang="en-US" sz="1900"/>
          </a:p>
        </p:txBody>
      </p:sp>
      <p:sp>
        <p:nvSpPr>
          <p:cNvPr id="42" name="Text 40"/>
          <p:cNvSpPr txBox="1"/>
          <p:nvPr/>
        </p:nvSpPr>
        <p:spPr>
          <a:xfrm>
            <a:off x="11353800" y="12161520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Materials and Tools</a:t>
            </a:r>
            <a:endParaRPr lang="en-US" sz="2200"/>
          </a:p>
        </p:txBody>
      </p:sp>
      <p:sp>
        <p:nvSpPr>
          <p:cNvPr id="43" name="Text 41"/>
          <p:cNvSpPr txBox="1"/>
          <p:nvPr/>
        </p:nvSpPr>
        <p:spPr>
          <a:xfrm>
            <a:off x="11353800" y="12710160"/>
            <a:ext cx="1021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PyTorch (CNN-LSTM, RTX 2050 GPU), scikit-learn and LightGBM baselines, FastAPI + SQLite back end, React web portal.</a:t>
            </a:r>
            <a:endParaRPr lang="en-US" sz="1900"/>
          </a:p>
        </p:txBody>
      </p:sp>
      <p:sp>
        <p:nvSpPr>
          <p:cNvPr id="44" name="Text 42"/>
          <p:cNvSpPr txBox="1"/>
          <p:nvPr/>
        </p:nvSpPr>
        <p:spPr>
          <a:xfrm>
            <a:off x="11353800" y="13944600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Procedure</a:t>
            </a:r>
            <a:endParaRPr lang="en-US" sz="2200"/>
          </a:p>
        </p:txBody>
      </p:sp>
      <p:sp>
        <p:nvSpPr>
          <p:cNvPr id="45" name="Text 43"/>
          <p:cNvSpPr txBox="1"/>
          <p:nvPr/>
        </p:nvSpPr>
        <p:spPr>
          <a:xfrm>
            <a:off x="11353800" y="14493240"/>
            <a:ext cx="1021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de-duplicate, keep 64 features; train Conv1D 64 &gt; Pool &gt; Conv1D 128 &gt; LSTM 128 &gt; 13 classes; calibrate; set routing thresholds on validation; replay test traffic.</a:t>
            </a:r>
            <a:endParaRPr lang="en-US" sz="1900"/>
          </a:p>
        </p:txBody>
      </p:sp>
      <p:sp>
        <p:nvSpPr>
          <p:cNvPr id="46" name="Shape 44"/>
          <p:cNvSpPr/>
          <p:nvPr/>
        </p:nvSpPr>
        <p:spPr>
          <a:xfrm>
            <a:off x="11353800" y="15773400"/>
            <a:ext cx="10210800" cy="3200400"/>
          </a:xfrm>
          <a:prstGeom prst="roundRect">
            <a:avLst>
              <a:gd name="adj" fmla="val 2286"/>
            </a:avLst>
          </a:prstGeom>
          <a:solidFill>
            <a:srgbClr val="F2F5FC"/>
          </a:solidFill>
          <a:ln/>
        </p:spPr>
      </p:sp>
      <p:sp>
        <p:nvSpPr>
          <p:cNvPr id="47" name="Shape 45"/>
          <p:cNvSpPr/>
          <p:nvPr/>
        </p:nvSpPr>
        <p:spPr>
          <a:xfrm>
            <a:off x="11628120" y="16596360"/>
            <a:ext cx="2103120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1628120" y="16596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flow</a:t>
            </a:r>
            <a:endParaRPr lang="en-US" sz="1700"/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(64 features)</a:t>
            </a:r>
            <a:endParaRPr lang="en-US" sz="1700"/>
          </a:p>
        </p:txBody>
      </p:sp>
      <p:sp>
        <p:nvSpPr>
          <p:cNvPr id="49" name="Shape 47"/>
          <p:cNvSpPr/>
          <p:nvPr/>
        </p:nvSpPr>
        <p:spPr>
          <a:xfrm>
            <a:off x="13758672" y="17227296"/>
            <a:ext cx="361696" cy="292608"/>
          </a:xfrm>
          <a:prstGeom prst="rightArrow">
            <a:avLst/>
          </a:prstGeom>
          <a:solidFill>
            <a:srgbClr val="D97904"/>
          </a:solidFill>
          <a:ln/>
        </p:spPr>
      </p:sp>
      <p:sp>
        <p:nvSpPr>
          <p:cNvPr id="50" name="Shape 48"/>
          <p:cNvSpPr/>
          <p:nvPr/>
        </p:nvSpPr>
        <p:spPr>
          <a:xfrm>
            <a:off x="14147800" y="16596360"/>
            <a:ext cx="2103120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14147800" y="16596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CNN-LSTM</a:t>
            </a:r>
            <a:endParaRPr lang="en-US" sz="1700"/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700"/>
          </a:p>
        </p:txBody>
      </p:sp>
      <p:sp>
        <p:nvSpPr>
          <p:cNvPr id="52" name="Shape 50"/>
          <p:cNvSpPr/>
          <p:nvPr/>
        </p:nvSpPr>
        <p:spPr>
          <a:xfrm>
            <a:off x="16278352" y="17227296"/>
            <a:ext cx="361696" cy="292608"/>
          </a:xfrm>
          <a:prstGeom prst="rightArrow">
            <a:avLst/>
          </a:prstGeom>
          <a:solidFill>
            <a:srgbClr val="D97904"/>
          </a:solidFill>
          <a:ln/>
        </p:spPr>
      </p:sp>
      <p:sp>
        <p:nvSpPr>
          <p:cNvPr id="53" name="Shape 51"/>
          <p:cNvSpPr/>
          <p:nvPr/>
        </p:nvSpPr>
        <p:spPr>
          <a:xfrm>
            <a:off x="16667480" y="16596360"/>
            <a:ext cx="2103120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16667480" y="16596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</a:t>
            </a:r>
            <a:endParaRPr lang="en-US" sz="1700"/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router</a:t>
            </a:r>
            <a:endParaRPr lang="en-US" sz="1700"/>
          </a:p>
        </p:txBody>
      </p:sp>
      <p:sp>
        <p:nvSpPr>
          <p:cNvPr id="55" name="Shape 53"/>
          <p:cNvSpPr/>
          <p:nvPr/>
        </p:nvSpPr>
        <p:spPr>
          <a:xfrm>
            <a:off x="18798032" y="17227296"/>
            <a:ext cx="361696" cy="292608"/>
          </a:xfrm>
          <a:prstGeom prst="rightArrow">
            <a:avLst/>
          </a:prstGeom>
          <a:solidFill>
            <a:srgbClr val="D97904"/>
          </a:solidFill>
          <a:ln/>
        </p:spPr>
      </p:sp>
      <p:sp>
        <p:nvSpPr>
          <p:cNvPr id="56" name="Shape 54"/>
          <p:cNvSpPr/>
          <p:nvPr/>
        </p:nvSpPr>
        <p:spPr>
          <a:xfrm>
            <a:off x="19187160" y="16596360"/>
            <a:ext cx="2103120" cy="1554480"/>
          </a:xfrm>
          <a:prstGeom prst="roundRect">
            <a:avLst>
              <a:gd name="adj" fmla="val 4118"/>
            </a:avLst>
          </a:prstGeom>
          <a:solidFill>
            <a:srgbClr val="1E2761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19187160" y="16596360"/>
            <a:ext cx="21031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+</a:t>
            </a:r>
            <a:endParaRPr lang="en-US" sz="1700"/>
          </a:p>
          <a:p>
            <a:pPr marL="0" indent="0" algn="ctr">
              <a:buNone/>
            </a:pPr>
            <a:r>
              <a:rPr lang="en-US" sz="17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retraining</a:t>
            </a:r>
            <a:endParaRPr lang="en-US" sz="1700"/>
          </a:p>
        </p:txBody>
      </p:sp>
      <p:sp>
        <p:nvSpPr>
          <p:cNvPr id="58" name="Text 56"/>
          <p:cNvSpPr txBox="1"/>
          <p:nvPr/>
        </p:nvSpPr>
        <p:spPr>
          <a:xfrm>
            <a:off x="11353800" y="19138392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1 — Sentinel pipeline: confident flows are closed or alerted automatically; doubtful ones go to an analyst</a:t>
            </a:r>
            <a:endParaRPr lang="en-US" sz="1600"/>
          </a:p>
        </p:txBody>
      </p:sp>
      <p:sp>
        <p:nvSpPr>
          <p:cNvPr id="59" name="Text 57"/>
          <p:cNvSpPr txBox="1"/>
          <p:nvPr/>
        </p:nvSpPr>
        <p:spPr>
          <a:xfrm>
            <a:off x="11353800" y="19732752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2200"/>
          </a:p>
        </p:txBody>
      </p:sp>
      <p:sp>
        <p:nvSpPr>
          <p:cNvPr id="60" name="Text 58"/>
          <p:cNvSpPr txBox="1"/>
          <p:nvPr/>
        </p:nvSpPr>
        <p:spPr>
          <a:xfrm>
            <a:off x="11353800" y="20281392"/>
            <a:ext cx="10210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detection rate, F1, macro-F1 and FPR (mean of 3 seeds); referral rate vs error on auto-handled flows; leave-one-attack-out and day-split tests.</a:t>
            </a:r>
            <a:endParaRPr lang="en-US" sz="1900"/>
          </a:p>
        </p:txBody>
      </p:sp>
      <p:sp>
        <p:nvSpPr>
          <p:cNvPr id="61" name="Shape 59"/>
          <p:cNvSpPr/>
          <p:nvPr/>
        </p:nvSpPr>
        <p:spPr>
          <a:xfrm>
            <a:off x="11353800" y="29718000"/>
            <a:ext cx="10210800" cy="2377440"/>
          </a:xfrm>
          <a:prstGeom prst="roundRect">
            <a:avLst>
              <a:gd name="adj" fmla="val 3077"/>
            </a:avLst>
          </a:prstGeom>
          <a:solidFill>
            <a:srgbClr val="F2F5FC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11628120" y="29946600"/>
            <a:ext cx="966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Contribution</a:t>
            </a:r>
            <a:endParaRPr lang="en-US" sz="1900"/>
          </a:p>
        </p:txBody>
      </p:sp>
      <p:sp>
        <p:nvSpPr>
          <p:cNvPr id="63" name="Text 61"/>
          <p:cNvSpPr txBox="1"/>
          <p:nvPr/>
        </p:nvSpPr>
        <p:spPr>
          <a:xfrm>
            <a:off x="11628120" y="30449520"/>
            <a:ext cx="9662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combined router (entropy + embedding distance + Random Forest second opinion) that sends 98.9% of the model's errors and most never-seen attacks to a human while referring only 1.48% of traffic.</a:t>
            </a:r>
            <a:endParaRPr lang="en-US" sz="1900"/>
          </a:p>
        </p:txBody>
      </p:sp>
      <p:sp>
        <p:nvSpPr>
          <p:cNvPr id="64" name="Shape 62"/>
          <p:cNvSpPr/>
          <p:nvPr/>
        </p:nvSpPr>
        <p:spPr>
          <a:xfrm>
            <a:off x="11353800" y="32598360"/>
            <a:ext cx="594360" cy="594360"/>
          </a:xfrm>
          <a:prstGeom prst="ellipse">
            <a:avLst/>
          </a:prstGeom>
          <a:solidFill>
            <a:srgbClr val="D97904"/>
          </a:solidFill>
          <a:ln/>
        </p:spPr>
      </p:sp>
      <p:sp>
        <p:nvSpPr>
          <p:cNvPr id="65" name="Text 63"/>
          <p:cNvSpPr txBox="1"/>
          <p:nvPr/>
        </p:nvSpPr>
        <p:spPr>
          <a:xfrm>
            <a:off x="12204192" y="3252520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</a:t>
            </a:r>
            <a:endParaRPr lang="en-US" sz="3000"/>
          </a:p>
        </p:txBody>
      </p:sp>
      <p:sp>
        <p:nvSpPr>
          <p:cNvPr id="66" name="Shape 64"/>
          <p:cNvSpPr/>
          <p:nvPr/>
        </p:nvSpPr>
        <p:spPr>
          <a:xfrm>
            <a:off x="11353800" y="33558480"/>
            <a:ext cx="3083560" cy="1188720"/>
          </a:xfrm>
          <a:prstGeom prst="roundRect">
            <a:avLst>
              <a:gd name="adj" fmla="val 461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11353800" y="33558480"/>
            <a:ext cx="308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500"/>
          </a:p>
        </p:txBody>
      </p:sp>
      <p:sp>
        <p:nvSpPr>
          <p:cNvPr id="68" name="Shape 66"/>
          <p:cNvSpPr/>
          <p:nvPr/>
        </p:nvSpPr>
        <p:spPr>
          <a:xfrm>
            <a:off x="14638528" y="33558480"/>
            <a:ext cx="3083560" cy="1188720"/>
          </a:xfrm>
          <a:prstGeom prst="roundRect">
            <a:avLst>
              <a:gd name="adj" fmla="val 461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14638528" y="33558480"/>
            <a:ext cx="308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</a:t>
            </a:r>
            <a:endParaRPr lang="en-US" sz="1500"/>
          </a:p>
        </p:txBody>
      </p:sp>
      <p:sp>
        <p:nvSpPr>
          <p:cNvPr id="70" name="Shape 68"/>
          <p:cNvSpPr/>
          <p:nvPr/>
        </p:nvSpPr>
        <p:spPr>
          <a:xfrm>
            <a:off x="17923256" y="33558480"/>
            <a:ext cx="3083560" cy="1188720"/>
          </a:xfrm>
          <a:prstGeom prst="roundRect">
            <a:avLst>
              <a:gd name="adj" fmla="val 4615"/>
            </a:avLst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17923256" y="33558480"/>
            <a:ext cx="3083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SQLite</a:t>
            </a:r>
            <a:endParaRPr lang="en-US" sz="1500"/>
          </a:p>
          <a:p>
            <a:pPr marL="0" indent="0" algn="ctr">
              <a:buNone/>
            </a:pPr>
            <a:r>
              <a:rPr lang="en-US" sz="15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portal</a:t>
            </a:r>
            <a:endParaRPr lang="en-US" sz="1500"/>
          </a:p>
        </p:txBody>
      </p:sp>
      <p:sp>
        <p:nvSpPr>
          <p:cNvPr id="72" name="Shape 70"/>
          <p:cNvSpPr/>
          <p:nvPr/>
        </p:nvSpPr>
        <p:spPr>
          <a:xfrm>
            <a:off x="22021800" y="667512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22021800" y="66751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100"/>
          </a:p>
        </p:txBody>
      </p:sp>
      <p:sp>
        <p:nvSpPr>
          <p:cNvPr id="74" name="Text 72"/>
          <p:cNvSpPr txBox="1"/>
          <p:nvPr/>
        </p:nvSpPr>
        <p:spPr>
          <a:xfrm>
            <a:off x="22872192" y="660196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</a:t>
            </a:r>
            <a:endParaRPr lang="en-US" sz="3000"/>
          </a:p>
        </p:txBody>
      </p:sp>
      <p:graphicFrame>
        <p:nvGraphicFramePr>
          <p:cNvPr id="75" name="Chart 0"/>
          <p:cNvGraphicFramePr/>
          <p:nvPr/>
        </p:nvGraphicFramePr>
        <p:xfrm>
          <a:off x="22021800" y="7635240"/>
          <a:ext cx="10210800" cy="5303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6" name="Text 73"/>
          <p:cNvSpPr txBox="1"/>
          <p:nvPr/>
        </p:nvSpPr>
        <p:spPr>
          <a:xfrm>
            <a:off x="22021800" y="1307592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3 — Binary F1 on the held-out test set (mean of 3 seeds) vs. the reference paper</a:t>
            </a:r>
            <a:endParaRPr lang="en-US" sz="1600"/>
          </a:p>
        </p:txBody>
      </p:sp>
      <p:graphicFrame>
        <p:nvGraphicFramePr>
          <p:cNvPr id="7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2021800" y="13670280"/>
          <a:ext cx="10210800" cy="1737360"/>
        </p:xfrm>
        <a:graphic>
          <a:graphicData uri="http://schemas.openxmlformats.org/drawingml/2006/table">
            <a:tbl>
              <a:tblPr/>
              <a:tblGrid>
                <a:gridCol w="3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Never-seen attack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CNN-LSTM alone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router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 attack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97.0%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Port scan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39.7%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Botnet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12.4%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10.2%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8" name="Text 74"/>
          <p:cNvSpPr txBox="1"/>
          <p:nvPr/>
        </p:nvSpPr>
        <p:spPr>
          <a:xfrm>
            <a:off x="22021800" y="1559052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2 — Share of a withheld attack closed as normal (lower is better), leave-one-attack-out</a:t>
            </a:r>
            <a:endParaRPr lang="en-US" sz="1600"/>
          </a:p>
        </p:txBody>
      </p:sp>
      <p:sp>
        <p:nvSpPr>
          <p:cNvPr id="79" name="Shape 75"/>
          <p:cNvSpPr/>
          <p:nvPr/>
        </p:nvSpPr>
        <p:spPr>
          <a:xfrm>
            <a:off x="22021800" y="18288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0" name="Text 76"/>
          <p:cNvSpPr txBox="1"/>
          <p:nvPr/>
        </p:nvSpPr>
        <p:spPr>
          <a:xfrm>
            <a:off x="22021800" y="18288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100"/>
          </a:p>
        </p:txBody>
      </p:sp>
      <p:sp>
        <p:nvSpPr>
          <p:cNvPr id="81" name="Text 77"/>
          <p:cNvSpPr txBox="1"/>
          <p:nvPr/>
        </p:nvSpPr>
        <p:spPr>
          <a:xfrm>
            <a:off x="22872192" y="1821484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Discussion</a:t>
            </a:r>
            <a:endParaRPr lang="en-US" sz="3000"/>
          </a:p>
        </p:txBody>
      </p:sp>
      <p:sp>
        <p:nvSpPr>
          <p:cNvPr id="82" name="Text 78"/>
          <p:cNvSpPr txBox="1"/>
          <p:nvPr/>
        </p:nvSpPr>
        <p:spPr>
          <a:xfrm>
            <a:off x="22021800" y="19248120"/>
            <a:ext cx="1021080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leakage removed, every model exceeds 99.7% binary F1; the Random Forest is slightly ahead of the CNN-LSTM, and all beat the paper's 94.3%</a:t>
            </a:r>
            <a:endParaRPr lang="en-US" sz="2100"/>
          </a:p>
          <a:p>
            <a:pPr marL="254000" indent="-2540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network's own confidence let up to 97% of a never-seen attack through; adding the RF second opinion cut this to at most 10.2% for 5 of 6 families</a:t>
            </a:r>
            <a:endParaRPr lang="en-US" sz="2100"/>
          </a:p>
          <a:p>
            <a:pPr marL="254000" indent="-2540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test traffic only 2 of 43,706 attack flows were closed as normal and 0 of 213,516 benign flows raised an alarm</a:t>
            </a:r>
            <a:endParaRPr lang="en-US" sz="2100"/>
          </a:p>
          <a:p>
            <a:pPr marL="254000" indent="-254000">
              <a:lnSpc>
                <a:spcPct val="125000"/>
              </a:lnSpc>
              <a:spcAft>
                <a:spcPts val="1400"/>
              </a:spcAft>
              <a:buSzPct val="100000"/>
              <a:buChar char="•"/>
            </a:pPr>
            <a:r>
              <a:rPr lang="en-US" sz="21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Limitations: SSH brute force evades per-flow detection; the rule was chosen after the withheld-attack study; analysts were the authors</a:t>
            </a:r>
            <a:endParaRPr lang="en-US" sz="2100"/>
          </a:p>
        </p:txBody>
      </p:sp>
      <p:sp>
        <p:nvSpPr>
          <p:cNvPr id="83" name="Shape 79"/>
          <p:cNvSpPr/>
          <p:nvPr/>
        </p:nvSpPr>
        <p:spPr>
          <a:xfrm>
            <a:off x="22021800" y="23454360"/>
            <a:ext cx="10210800" cy="1463040"/>
          </a:xfrm>
          <a:prstGeom prst="roundRect">
            <a:avLst>
              <a:gd name="adj" fmla="val 5000"/>
            </a:avLst>
          </a:prstGeom>
          <a:solidFill>
            <a:srgbClr val="F2F5FC"/>
          </a:solidFill>
          <a:ln/>
        </p:spPr>
      </p:sp>
      <p:sp>
        <p:nvSpPr>
          <p:cNvPr id="84" name="Text 80"/>
          <p:cNvSpPr txBox="1"/>
          <p:nvPr/>
        </p:nvSpPr>
        <p:spPr>
          <a:xfrm>
            <a:off x="22296120" y="23682960"/>
            <a:ext cx="9662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 </a:t>
            </a:r>
            <a:r>
              <a:rPr lang="en-US" sz="1800" i="1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Sentinel handles 98.5% of traffic alone at 99.999% accuracy and hands the 1.48% where almost all its mistakes are to a human.</a:t>
            </a:r>
            <a:endParaRPr lang="en-US" sz="1800"/>
          </a:p>
        </p:txBody>
      </p:sp>
      <p:sp>
        <p:nvSpPr>
          <p:cNvPr id="85" name="Shape 81"/>
          <p:cNvSpPr/>
          <p:nvPr/>
        </p:nvSpPr>
        <p:spPr>
          <a:xfrm>
            <a:off x="22021800" y="25420320"/>
            <a:ext cx="594360" cy="594360"/>
          </a:xfrm>
          <a:prstGeom prst="ellipse">
            <a:avLst/>
          </a:prstGeom>
          <a:solidFill>
            <a:srgbClr val="D97904"/>
          </a:solidFill>
          <a:ln/>
        </p:spPr>
      </p:sp>
      <p:sp>
        <p:nvSpPr>
          <p:cNvPr id="86" name="Text 82"/>
          <p:cNvSpPr txBox="1"/>
          <p:nvPr/>
        </p:nvSpPr>
        <p:spPr>
          <a:xfrm>
            <a:off x="22872192" y="25347168"/>
            <a:ext cx="9360408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Output</a:t>
            </a:r>
            <a:endParaRPr lang="en-US" sz="3000"/>
          </a:p>
        </p:txBody>
      </p:sp>
      <p:sp>
        <p:nvSpPr>
          <p:cNvPr id="87" name="Shape 83"/>
          <p:cNvSpPr/>
          <p:nvPr/>
        </p:nvSpPr>
        <p:spPr>
          <a:xfrm>
            <a:off x="22021800" y="26380440"/>
            <a:ext cx="10210800" cy="6858000"/>
          </a:xfrm>
          <a:prstGeom prst="rect">
            <a:avLst/>
          </a:prstGeom>
          <a:solidFill>
            <a:srgbClr val="F2F5FC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88" name="Text 84"/>
          <p:cNvSpPr txBox="1"/>
          <p:nvPr/>
        </p:nvSpPr>
        <p:spPr>
          <a:xfrm>
            <a:off x="22021800" y="26380440"/>
            <a:ext cx="10210800" cy="685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/>
          </a:p>
        </p:txBody>
      </p:sp>
      <p:sp>
        <p:nvSpPr>
          <p:cNvPr id="89" name="Text 85"/>
          <p:cNvSpPr txBox="1"/>
          <p:nvPr/>
        </p:nvSpPr>
        <p:spPr>
          <a:xfrm>
            <a:off x="22021800" y="3337560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5 — Analyst console: a referred flow with the model's verdict, uncertainty scores, unusual features and similar past incidents</a:t>
            </a:r>
            <a:endParaRPr lang="en-US" sz="1600"/>
          </a:p>
        </p:txBody>
      </p:sp>
      <p:sp>
        <p:nvSpPr>
          <p:cNvPr id="90" name="Shape 86"/>
          <p:cNvSpPr/>
          <p:nvPr/>
        </p:nvSpPr>
        <p:spPr>
          <a:xfrm>
            <a:off x="0" y="37444680"/>
            <a:ext cx="32918400" cy="18288"/>
          </a:xfrm>
          <a:prstGeom prst="rect">
            <a:avLst/>
          </a:prstGeom>
          <a:solidFill>
            <a:srgbClr val="E3E7EF"/>
          </a:solidFill>
          <a:ln/>
        </p:spPr>
      </p:sp>
      <p:sp>
        <p:nvSpPr>
          <p:cNvPr id="91" name="Shape 87"/>
          <p:cNvSpPr/>
          <p:nvPr/>
        </p:nvSpPr>
        <p:spPr>
          <a:xfrm>
            <a:off x="685800" y="37719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2" name="Text 88"/>
          <p:cNvSpPr txBox="1"/>
          <p:nvPr/>
        </p:nvSpPr>
        <p:spPr>
          <a:xfrm>
            <a:off x="685800" y="3771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100"/>
          </a:p>
        </p:txBody>
      </p:sp>
      <p:sp>
        <p:nvSpPr>
          <p:cNvPr id="93" name="Text 89"/>
          <p:cNvSpPr txBox="1"/>
          <p:nvPr/>
        </p:nvSpPr>
        <p:spPr>
          <a:xfrm>
            <a:off x="1536192" y="37645848"/>
            <a:ext cx="8942832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/>
          </a:p>
        </p:txBody>
      </p:sp>
      <p:sp>
        <p:nvSpPr>
          <p:cNvPr id="94" name="Text 90"/>
          <p:cNvSpPr txBox="1"/>
          <p:nvPr/>
        </p:nvSpPr>
        <p:spPr>
          <a:xfrm>
            <a:off x="685800" y="38679120"/>
            <a:ext cx="979322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strict leakage control our CNN-LSTM exceeds the reference paper's figures, but its own uncertainty misses novel attacks. Adding a Random Forest second opinion fixes most of this: 1.48% of traffic reaches a human, holding 98.9% of the errors, and analyst knowledge reaches the model only through verified, approved and reversible retraining.</a:t>
            </a:r>
            <a:endParaRPr lang="en-US" sz="1900"/>
          </a:p>
        </p:txBody>
      </p:sp>
      <p:sp>
        <p:nvSpPr>
          <p:cNvPr id="95" name="Shape 91"/>
          <p:cNvSpPr/>
          <p:nvPr/>
        </p:nvSpPr>
        <p:spPr>
          <a:xfrm>
            <a:off x="10936224" y="37719000"/>
            <a:ext cx="594360" cy="5943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6" name="Text 92"/>
          <p:cNvSpPr txBox="1"/>
          <p:nvPr/>
        </p:nvSpPr>
        <p:spPr>
          <a:xfrm>
            <a:off x="10936224" y="3771900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2100"/>
          </a:p>
        </p:txBody>
      </p:sp>
      <p:sp>
        <p:nvSpPr>
          <p:cNvPr id="97" name="Text 93"/>
          <p:cNvSpPr txBox="1"/>
          <p:nvPr/>
        </p:nvSpPr>
        <p:spPr>
          <a:xfrm>
            <a:off x="11786616" y="37645848"/>
            <a:ext cx="9777984" cy="740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Work</a:t>
            </a:r>
            <a:endParaRPr lang="en-US" sz="3000"/>
          </a:p>
        </p:txBody>
      </p:sp>
      <p:sp>
        <p:nvSpPr>
          <p:cNvPr id="98" name="Text 94"/>
          <p:cNvSpPr txBox="1"/>
          <p:nvPr/>
        </p:nvSpPr>
        <p:spPr>
          <a:xfrm>
            <a:off x="10936224" y="38679120"/>
            <a:ext cx="10628376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Host-level features over time windows to catch SSH brute force and botnets; retraining the Random Forest alongside the network; testing on CSE-CIC-IDS2018 (a different network); evaluation with working security analysts and real login.</a:t>
            </a:r>
            <a:endParaRPr lang="en-US" sz="1900"/>
          </a:p>
        </p:txBody>
      </p:sp>
      <p:sp>
        <p:nvSpPr>
          <p:cNvPr id="99" name="Text 95"/>
          <p:cNvSpPr txBox="1"/>
          <p:nvPr/>
        </p:nvSpPr>
        <p:spPr>
          <a:xfrm>
            <a:off x="685800" y="40187880"/>
            <a:ext cx="2087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2400"/>
          </a:p>
        </p:txBody>
      </p:sp>
      <p:sp>
        <p:nvSpPr>
          <p:cNvPr id="100" name="Text 96"/>
          <p:cNvSpPr txBox="1"/>
          <p:nvPr/>
        </p:nvSpPr>
        <p:spPr>
          <a:xfrm>
            <a:off x="685800" y="40690800"/>
            <a:ext cx="20878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C. M. de Nascimento and J. Hou, "Uncertainty-aware adaptive intrusion detection using hybrid CNN-LSTM with cWGAN-GP augmentation and HITL feedback," Safety, vol. 11, no. 4, Art. 120, 2025.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G. Engelen, V. Rimmer, and W. Joosen, "Troubleshooting an intrusion detection dataset: the CICIDS2017 case study," in Proc. IEEE SPW, 2021, pp. 7–12.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L. Liu et al., "Error prevalence in NIDS datasets: CIC-IDS-2017 and CSE-CIC-IDS-2018," in Proc. IEEE CNS, 2022.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D. Arp et al., "Dos and don'ts of machine learning in computer security," in Proc. USENIX Security, 2022, pp. 3971–3988.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R. Sommer and V. Paxson, "Outside the closed world: On using machine learning for network intrusion detection," in Proc. IEEE S&amp;P, 2010, pp. 305–316.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S. Hochreiter and J. Schmidhuber, "Long short-term memory," Neural Computation, vol. 9, no. 8, pp. 1735–1780, 1997.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L. Breiman, "Random forests," Machine Learning, vol. 45, no. 1, pp. 5–32, 2001.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[8] D. Hendrycks and K. Gimpel, "A baseline for detecting misclassified and out-of-distribution examples in neural networks," in Proc. ICLR, 2017.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[9] K. Lee et al., "A simple unified framework for detecting out-of-distribution samples and adversarial attacks," in Proc. NeurIPS, 2018.</a:t>
            </a:r>
            <a:endParaRPr lang="en-US" sz="1600"/>
          </a:p>
          <a:p>
            <a:pPr marL="0" indent="0">
              <a:lnSpc>
                <a:spcPct val="118000"/>
              </a:lnSpc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[10] C. Guo et al., "On calibration of modern neural networks," in Proc. ICML, 2017, pp. 1321–1330.</a:t>
            </a:r>
            <a:endParaRPr lang="en-US" sz="1600"/>
          </a:p>
        </p:txBody>
      </p:sp>
      <p:sp>
        <p:nvSpPr>
          <p:cNvPr id="101" name="Shape 97"/>
          <p:cNvSpPr/>
          <p:nvPr/>
        </p:nvSpPr>
        <p:spPr>
          <a:xfrm>
            <a:off x="22021800" y="37719000"/>
            <a:ext cx="10210800" cy="5486400"/>
          </a:xfrm>
          <a:prstGeom prst="roundRect">
            <a:avLst>
              <a:gd name="adj" fmla="val 1333"/>
            </a:avLst>
          </a:prstGeom>
          <a:solidFill>
            <a:srgbClr val="F2F5FC"/>
          </a:solidFill>
          <a:ln/>
        </p:spPr>
      </p:sp>
      <p:sp>
        <p:nvSpPr>
          <p:cNvPr id="102" name="Text 98"/>
          <p:cNvSpPr txBox="1"/>
          <p:nvPr/>
        </p:nvSpPr>
        <p:spPr>
          <a:xfrm>
            <a:off x="22021800" y="37993320"/>
            <a:ext cx="1021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 for full paper</a:t>
            </a:r>
            <a:endParaRPr lang="en-US" sz="1800"/>
          </a:p>
        </p:txBody>
      </p:sp>
      <p:sp>
        <p:nvSpPr>
          <p:cNvPr id="103" name="Shape 99"/>
          <p:cNvSpPr/>
          <p:nvPr/>
        </p:nvSpPr>
        <p:spPr>
          <a:xfrm>
            <a:off x="26029920" y="38496240"/>
            <a:ext cx="2194560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04" name="Text 100"/>
          <p:cNvSpPr txBox="1"/>
          <p:nvPr/>
        </p:nvSpPr>
        <p:spPr>
          <a:xfrm>
            <a:off x="26029920" y="38496240"/>
            <a:ext cx="21945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/>
            </a:r>
            <a:endParaRPr lang="en-US" sz="1700"/>
          </a:p>
        </p:txBody>
      </p:sp>
      <p:sp>
        <p:nvSpPr>
          <p:cNvPr id="105" name="Text 101"/>
          <p:cNvSpPr txBox="1"/>
          <p:nvPr/>
        </p:nvSpPr>
        <p:spPr>
          <a:xfrm>
            <a:off x="22021800" y="40873680"/>
            <a:ext cx="1021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30000"/>
              </a:lnSpc>
              <a:buNone/>
            </a:pPr>
            <a:r>
              <a:rPr lang="en-US" sz="15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jai.chavan@vit.edu.in  ·  jeet.mane@vit.edu.in</a:t>
            </a:r>
            <a:endParaRPr lang="en-US" sz="1500"/>
          </a:p>
          <a:p>
            <a:pPr marL="0" indent="0" algn="ctr">
              <a:lnSpc>
                <a:spcPct val="130000"/>
              </a:lnSpc>
              <a:buNone/>
            </a:pPr>
            <a:r>
              <a:rPr lang="en-US" sz="15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paper (PDF) on Google Drive: scan the QR code</a:t>
            </a:r>
            <a:endParaRPr lang="en-US" sz="1500"/>
          </a:p>
        </p:txBody>
      </p:sp>
      <p:sp>
        <p:nvSpPr>
          <p:cNvPr id="106" name="Text 102"/>
          <p:cNvSpPr txBox="1"/>
          <p:nvPr/>
        </p:nvSpPr>
        <p:spPr>
          <a:xfrm>
            <a:off x="22204680" y="42473880"/>
            <a:ext cx="9845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Acknowledgements: Prof. Divya Nimbalkar (guide) and the Department of Computer Engineering, VIT Mumbai, for guidance and lab facilities</a:t>
            </a:r>
            <a:endParaRPr lang="en-US" sz="1300"/>
          </a:p>
        </p:txBody>
      </p:sp>
      <p:pic>
        <p:nvPicPr>
          <p:cNvPr id="107" name="Picture 106" descr="paper_q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103072" y="38569392"/>
            <a:ext cx="2048256" cy="2048256"/>
          </a:xfrm>
          <a:prstGeom prst="rect">
            <a:avLst/>
          </a:prstGeom>
        </p:spPr>
      </p:pic>
      <p:graphicFrame>
        <p:nvGraphicFramePr>
          <p:cNvPr id="20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22814280"/>
          <a:ext cx="10213848" cy="1737360"/>
        </p:xfrm>
        <a:graphic>
          <a:graphicData uri="http://schemas.openxmlformats.org/drawingml/2006/table">
            <a:tbl>
              <a:tblPr/>
              <a:tblGrid>
                <a:gridCol w="3403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3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Work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Spots unfamiliar inputs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600" b="1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Analyst feedback loop</a:t>
                      </a:r>
                      <a:endParaRPr lang="en-US" sz="16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[1] CNN-LSTM + cWGAN-GP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only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Feedback, not verified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[8], [9] OOD detection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Softmax / distance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43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Sentinel (ours)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Entropy + distance + RF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>
                          <a:solidFill>
                            <a:srgbClr val="1B1B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Verified, gated, reversible</a:t>
                      </a:r>
                      <a:endParaRPr lang="en-US" sz="150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DE3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07" name="Text 74"/>
          <p:cNvSpPr txBox="1"/>
          <p:nvPr/>
        </p:nvSpPr>
        <p:spPr>
          <a:xfrm>
            <a:off x="685800" y="2468880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1 — How Sentinel differs from the closest prior work</a:t>
            </a:r>
            <a:endParaRPr lang="en-US" sz="1600"/>
          </a:p>
        </p:txBody>
      </p:sp>
      <p:sp>
        <p:nvSpPr>
          <p:cNvPr id="208" name="Text 24"/>
          <p:cNvSpPr txBox="1"/>
          <p:nvPr/>
        </p:nvSpPr>
        <p:spPr>
          <a:xfrm>
            <a:off x="960120" y="27569160"/>
            <a:ext cx="483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D979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99.999%</a:t>
            </a:r>
            <a:endParaRPr lang="en-US" sz="4600"/>
          </a:p>
        </p:txBody>
      </p:sp>
      <p:sp>
        <p:nvSpPr>
          <p:cNvPr id="209" name="Text 26"/>
          <p:cNvSpPr txBox="1"/>
          <p:nvPr/>
        </p:nvSpPr>
        <p:spPr>
          <a:xfrm>
            <a:off x="5791200" y="27569160"/>
            <a:ext cx="4831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 b="1">
                <a:solidFill>
                  <a:srgbClr val="D9790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600"/>
          </a:p>
        </p:txBody>
      </p:sp>
      <p:sp>
        <p:nvSpPr>
          <p:cNvPr id="210" name="Text 25"/>
          <p:cNvSpPr txBox="1"/>
          <p:nvPr/>
        </p:nvSpPr>
        <p:spPr>
          <a:xfrm>
            <a:off x="960120" y="28575000"/>
            <a:ext cx="483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on flows handled without a human</a:t>
            </a:r>
            <a:endParaRPr lang="en-US" sz="1600"/>
          </a:p>
        </p:txBody>
      </p:sp>
      <p:sp>
        <p:nvSpPr>
          <p:cNvPr id="211" name="Text 27"/>
          <p:cNvSpPr txBox="1"/>
          <p:nvPr/>
        </p:nvSpPr>
        <p:spPr>
          <a:xfrm>
            <a:off x="5791200" y="28575000"/>
            <a:ext cx="4831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on 213,516 benign flows</a:t>
            </a:r>
            <a:endParaRPr lang="en-US" sz="1600"/>
          </a:p>
        </p:txBody>
      </p:sp>
      <p:sp>
        <p:nvSpPr>
          <p:cNvPr id="212" name="Text 57"/>
          <p:cNvSpPr txBox="1"/>
          <p:nvPr/>
        </p:nvSpPr>
        <p:spPr>
          <a:xfrm>
            <a:off x="11353800" y="21534120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3.6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Uncertainty Routing</a:t>
            </a:r>
            <a:endParaRPr lang="en-US" sz="2200"/>
          </a:p>
        </p:txBody>
      </p:sp>
      <p:sp>
        <p:nvSpPr>
          <p:cNvPr id="213" name="Text 58"/>
          <p:cNvSpPr txBox="1"/>
          <p:nvPr/>
        </p:nvSpPr>
        <p:spPr>
          <a:xfrm>
            <a:off x="11353800" y="22082760"/>
            <a:ext cx="10210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flow goes to the analyst if temperature-scaled entropy or Mahalanobis distance on the 128-d embedding exceeds its validation threshold, or the Random Forest is unsure or disagrees.</a:t>
            </a:r>
            <a:endParaRPr lang="en-US" sz="1900"/>
          </a:p>
        </p:txBody>
      </p:sp>
      <p:sp>
        <p:nvSpPr>
          <p:cNvPr id="214" name="Text 57"/>
          <p:cNvSpPr txBox="1"/>
          <p:nvPr/>
        </p:nvSpPr>
        <p:spPr>
          <a:xfrm>
            <a:off x="11353800" y="23637240"/>
            <a:ext cx="10210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>
                <a:solidFill>
                  <a:srgbClr val="D9790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3.7  </a:t>
            </a:r>
            <a:r>
              <a:rPr lang="en-US" sz="2200" b="1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Retraining</a:t>
            </a:r>
            <a:endParaRPr lang="en-US" sz="2200"/>
          </a:p>
        </p:txBody>
      </p:sp>
      <p:sp>
        <p:nvSpPr>
          <p:cNvPr id="215" name="Text 58"/>
          <p:cNvSpPr txBox="1"/>
          <p:nvPr/>
        </p:nvSpPr>
        <p:spPr>
          <a:xfrm>
            <a:off x="11353800" y="24185880"/>
            <a:ext cx="102108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900">
                <a:solidFill>
                  <a:srgbClr val="1B1B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 verdict, reason, context and evidence are stored in the Knowledge Repository. An admin verifies them; a candidate is retrained and deployed only if macro-F1 drops ≤ 0.5 pt, FPR rises ≤ 0.05 pt and feedback accuracy does not fall. Rollback takes one click.</a:t>
            </a:r>
            <a:endParaRPr lang="en-US" sz="1900"/>
          </a:p>
        </p:txBody>
      </p:sp>
      <p:sp>
        <p:nvSpPr>
          <p:cNvPr id="216" name="Shape 44"/>
          <p:cNvSpPr/>
          <p:nvPr/>
        </p:nvSpPr>
        <p:spPr>
          <a:xfrm>
            <a:off x="11356848" y="26197560"/>
            <a:ext cx="10213848" cy="2788920"/>
          </a:xfrm>
          <a:prstGeom prst="roundRect">
            <a:avLst>
              <a:gd name="adj" fmla="val 2286"/>
            </a:avLst>
          </a:prstGeom>
          <a:solidFill>
            <a:srgbClr val="F2F5FC"/>
          </a:solidFill>
          <a:ln/>
        </p:spPr>
      </p:sp>
      <p:pic>
        <p:nvPicPr>
          <p:cNvPr id="217" name="Picture 216" descr="retrain_cro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94008" y="26397645"/>
            <a:ext cx="9939528" cy="2388749"/>
          </a:xfrm>
          <a:prstGeom prst="rect">
            <a:avLst/>
          </a:prstGeom>
        </p:spPr>
      </p:pic>
      <p:sp>
        <p:nvSpPr>
          <p:cNvPr id="217" name="Text 56"/>
          <p:cNvSpPr txBox="1"/>
          <p:nvPr/>
        </p:nvSpPr>
        <p:spPr>
          <a:xfrm>
            <a:off x="11353800" y="2912364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2 — Admin retraining page: progress to the 20-decision minimum and the acceptance rules fixed before training</a:t>
            </a:r>
            <a:endParaRPr lang="en-US" sz="1600"/>
          </a:p>
        </p:txBody>
      </p:sp>
      <p:sp>
        <p:nvSpPr>
          <p:cNvPr id="218" name="Rectangle 217"/>
          <p:cNvSpPr/>
          <p:nvPr/>
        </p:nvSpPr>
        <p:spPr>
          <a:xfrm>
            <a:off x="22018752" y="16413480"/>
            <a:ext cx="6862572" cy="822960"/>
          </a:xfrm>
          <a:prstGeom prst="rect">
            <a:avLst/>
          </a:prstGeom>
          <a:solidFill>
            <a:srgbClr val="F2F5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none"/>
          <a:lstStyle/>
          <a:p>
            <a:pPr algn="ctr"/>
            <a:r>
              <a:rPr sz="1700" b="1">
                <a:solidFill>
                  <a:srgbClr val="1E2761"/>
                </a:solidFill>
                <a:latin typeface="Calibri"/>
              </a:rPr>
              <a:t>Closed automatically · 82.4%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28881323" y="16413480"/>
            <a:ext cx="1339596" cy="822960"/>
          </a:xfrm>
          <a:prstGeom prst="rect">
            <a:avLst/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Alert · 16.1%</a:t>
            </a:r>
          </a:p>
        </p:txBody>
      </p:sp>
      <p:sp>
        <p:nvSpPr>
          <p:cNvPr id="220" name="Rectangle 219"/>
          <p:cNvSpPr/>
          <p:nvPr/>
        </p:nvSpPr>
        <p:spPr>
          <a:xfrm>
            <a:off x="30220919" y="16413480"/>
            <a:ext cx="2011680" cy="822960"/>
          </a:xfrm>
          <a:prstGeom prst="rect">
            <a:avLst/>
          </a:prstGeom>
          <a:solidFill>
            <a:srgbClr val="D979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wrap="none"/>
          <a:lstStyle/>
          <a:p>
            <a:pPr algn="ctr"/>
            <a:r>
              <a:rPr sz="1700" b="1">
                <a:solidFill>
                  <a:srgbClr val="FFFFFF"/>
                </a:solidFill>
                <a:latin typeface="Calibri"/>
              </a:rPr>
              <a:t>Analyst · 1.48%</a:t>
            </a:r>
          </a:p>
        </p:txBody>
      </p:sp>
      <p:sp>
        <p:nvSpPr>
          <p:cNvPr id="218" name="Text 73"/>
          <p:cNvSpPr txBox="1"/>
          <p:nvPr/>
        </p:nvSpPr>
        <p:spPr>
          <a:xfrm>
            <a:off x="22021800" y="17373600"/>
            <a:ext cx="1021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>
                <a:solidFill>
                  <a:srgbClr val="5B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Fig. 4 — Where the 257,222 test flows went: closed automatically, confident alert, or sent to an analyst</a:t>
            </a:r>
            <a:endParaRPr lang="en-US" sz="1600"/>
          </a:p>
        </p:txBody>
      </p:sp>
      <p:pic>
        <p:nvPicPr>
          <p:cNvPr id="221" name="Picture 220" descr="console_crop_tall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216457" y="26517600"/>
            <a:ext cx="9818436" cy="6583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D36AE76B810D04AB735EB9EC05CB56A" ma:contentTypeVersion="3" ma:contentTypeDescription="Create a new document." ma:contentTypeScope="" ma:versionID="60058144045542f44930ffe881112502">
  <xsd:schema xmlns:xsd="http://www.w3.org/2001/XMLSchema" xmlns:xs="http://www.w3.org/2001/XMLSchema" xmlns:p="http://schemas.microsoft.com/office/2006/metadata/properties" xmlns:ns2="e551ef06-78d6-4e53-b7db-ab479278c181" targetNamespace="http://schemas.microsoft.com/office/2006/metadata/properties" ma:root="true" ma:fieldsID="fdd3deec8a3892d87d7ab211f8cdc82b" ns2:_="">
    <xsd:import namespace="e551ef06-78d6-4e53-b7db-ab479278c18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551ef06-78d6-4e53-b7db-ab479278c18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3888B75-471A-4F38-B603-2B3F07F285EE}">
  <ds:schemaRefs>
    <ds:schemaRef ds:uri="e551ef06-78d6-4e53-b7db-ab479278c181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34CB5E18-0E73-431D-A26B-13D9A544EEEA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CE46C6B-BDC1-4007-B3F5-53384DEBC3A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revision>1</cp:revision>
  <dcterms:created xsi:type="dcterms:W3CDTF">2026-09-22T06:14:57Z</dcterms:created>
  <dcterms:modified xsi:type="dcterms:W3CDTF">2026-10-19T06:29:16Z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0x0101000D36AE76B810D04AB735EB9EC05CB56A</vt:lpwstr>
  </property>
</Properties>
</file>